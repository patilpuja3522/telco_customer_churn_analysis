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aleway" panose="020B0604020202020204" charset="0"/>
      <p:regular r:id="rId14"/>
    </p:embeddedFont>
    <p:embeddedFont>
      <p:font typeface="Roboto" panose="020B0604020202020204" charset="0"/>
      <p:regular r:id="rId15"/>
    </p:embeddedFont>
    <p:embeddedFont>
      <p:font typeface="Roboto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656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Telco Customer Churn: Where We're Losing Revenue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diagnostic analysis for the Customer Success &amp; Operations team — moving from problem identification to actions you can run this week.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981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Scale of the Problem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678384"/>
            <a:ext cx="3030263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7,043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661475" y="2538313"/>
            <a:ext cx="30302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 Analyzed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3927972" y="1678384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26.5%</a:t>
            </a:r>
            <a:endParaRPr lang="en-US" sz="4900" dirty="0"/>
          </a:p>
        </p:txBody>
      </p:sp>
      <p:sp>
        <p:nvSpPr>
          <p:cNvPr id="7" name="Text 4"/>
          <p:cNvSpPr/>
          <p:nvPr/>
        </p:nvSpPr>
        <p:spPr>
          <a:xfrm>
            <a:off x="3927972" y="2538313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Overall Churn Rate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2294674" y="3306068"/>
            <a:ext cx="3030362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$139K</a:t>
            </a:r>
            <a:endParaRPr lang="en-US" sz="4900" dirty="0"/>
          </a:p>
        </p:txBody>
      </p:sp>
      <p:sp>
        <p:nvSpPr>
          <p:cNvPr id="9" name="Text 6"/>
          <p:cNvSpPr/>
          <p:nvPr/>
        </p:nvSpPr>
        <p:spPr>
          <a:xfrm>
            <a:off x="2294674" y="4165997"/>
            <a:ext cx="30303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Monthly Revenue at Risk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2294674" y="4574679"/>
            <a:ext cx="30303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30.5% of total revenue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5089723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357416"/>
            <a:ext cx="236234" cy="1890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75723" y="5325963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isn't random — it clusters around specific, fixable factors. That's the opportunity.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2C5BB6-D807-47E8-B3D6-EF73BD2DE332}"/>
              </a:ext>
            </a:extLst>
          </p:cNvPr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Length: The 15x Difference</a:t>
            </a:r>
            <a:endParaRPr lang="en-US" sz="37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CFD4DEB-3FB0-41BD-9E21-56AEBC960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DE35785A-DEDC-4161-AA17-33093FE47050}"/>
              </a:ext>
            </a:extLst>
          </p:cNvPr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Commitment = No Friction to Leave</a:t>
            </a:r>
            <a:endParaRPr lang="en-US" sz="1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267D88C-62A8-4DAF-8E45-93D30816BB37}"/>
              </a:ext>
            </a:extLst>
          </p:cNvPr>
          <p:cNvSpPr/>
          <p:nvPr/>
        </p:nvSpPr>
        <p:spPr>
          <a:xfrm>
            <a:off x="6332776" y="2453779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Month-to-month customers churn at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42.7%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compared to just </a:t>
            </a: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2.8%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two-year contracts. That's a 15x difference driven entirely by commitment level.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Moving even a fraction of month-to-month customers to annual contracts is the single highest-leverage action available.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203580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E1B520-EF95-4D7A-B3E6-59AF1DF209A0}"/>
              </a:ext>
            </a:extLst>
          </p:cNvPr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Payment Method Signals Risk</a:t>
            </a:r>
            <a:endParaRPr lang="en-US" sz="19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82A0961-8CC6-4282-8445-5AC6200A30BF}"/>
              </a:ext>
            </a:extLst>
          </p:cNvPr>
          <p:cNvSpPr/>
          <p:nvPr/>
        </p:nvSpPr>
        <p:spPr>
          <a:xfrm>
            <a:off x="661475" y="3261519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How customers pay tells us how committed they are</a:t>
            </a:r>
            <a:endParaRPr lang="en-US" sz="9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060B0A-6CC3-42BA-B4A8-307D83814E5E}"/>
              </a:ext>
            </a:extLst>
          </p:cNvPr>
          <p:cNvSpPr/>
          <p:nvPr/>
        </p:nvSpPr>
        <p:spPr>
          <a:xfrm>
            <a:off x="661475" y="3464024"/>
            <a:ext cx="5315512" cy="517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350"/>
              </a:spcAft>
              <a:buNone/>
            </a:pPr>
            <a:r>
              <a:rPr lang="en-US" sz="7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Electronic check users churn at 45.3%</a:t>
            </a: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highest risk segment. Customers on autopay (bank transfer or credit card) churn at just 15–17%.</a:t>
            </a:r>
            <a:endParaRPr lang="en-US" sz="7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payment behavior correlates with price-conscious, less-committed customers who are already one foot out the door.</a:t>
            </a:r>
            <a:endParaRPr lang="en-US" sz="7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C256D06A-2449-4A44-8B8E-FCBA62A05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058" y="961132"/>
            <a:ext cx="5315512" cy="531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9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3ED396F-7960-4284-B439-116081A60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E4796B4-178B-4D59-B1C5-A573B66D4FB3}"/>
              </a:ext>
            </a:extLst>
          </p:cNvPr>
          <p:cNvSpPr/>
          <p:nvPr/>
        </p:nvSpPr>
        <p:spPr>
          <a:xfrm>
            <a:off x="5233360" y="679152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Critical First 90 Days</a:t>
            </a:r>
            <a:endParaRPr lang="en-US" sz="350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D191BF18-9022-443D-A9CF-EC1181944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1499791"/>
            <a:ext cx="900784" cy="130760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F3F0DE7B-F9E4-4D9E-8C09-DD4D0B889C4B}"/>
              </a:ext>
            </a:extLst>
          </p:cNvPr>
          <p:cNvSpPr/>
          <p:nvPr/>
        </p:nvSpPr>
        <p:spPr>
          <a:xfrm>
            <a:off x="6305789" y="1679873"/>
            <a:ext cx="52244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 1–3</a:t>
            </a:r>
            <a:endParaRPr lang="en-US" sz="1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BE8CA3D8-7C45-4133-849E-B9F90AEF0D74}"/>
              </a:ext>
            </a:extLst>
          </p:cNvPr>
          <p:cNvSpPr/>
          <p:nvPr/>
        </p:nvSpPr>
        <p:spPr>
          <a:xfrm>
            <a:off x="6305789" y="2064345"/>
            <a:ext cx="52244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churn risk window. Customers haven't yet realized full product value.</a:t>
            </a:r>
            <a:endParaRPr lang="en-US" sz="1400" dirty="0"/>
          </a:p>
        </p:txBody>
      </p:sp>
      <p:pic>
        <p:nvPicPr>
          <p:cNvPr id="7" name="Image 2" descr="preencoded.png">
            <a:extLst>
              <a:ext uri="{FF2B5EF4-FFF2-40B4-BE49-F238E27FC236}">
                <a16:creationId xmlns:a16="http://schemas.microsoft.com/office/drawing/2014/main" id="{3063765E-EEE5-432E-AEC2-D37E4A833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807395"/>
            <a:ext cx="900784" cy="1307604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C90375F9-151F-464D-B312-43FCA15A44FC}"/>
              </a:ext>
            </a:extLst>
          </p:cNvPr>
          <p:cNvSpPr/>
          <p:nvPr/>
        </p:nvSpPr>
        <p:spPr>
          <a:xfrm>
            <a:off x="6305789" y="2987477"/>
            <a:ext cx="52244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Month 4–10</a:t>
            </a:r>
            <a:endParaRPr lang="en-US" sz="17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DDBC1499-64E0-4560-9FAB-F6F42EE5A578}"/>
              </a:ext>
            </a:extLst>
          </p:cNvPr>
          <p:cNvSpPr/>
          <p:nvPr/>
        </p:nvSpPr>
        <p:spPr>
          <a:xfrm>
            <a:off x="6305789" y="3371949"/>
            <a:ext cx="52244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remains elevated. Engagement and support interventions are still critical.</a:t>
            </a:r>
            <a:endParaRPr lang="en-US" sz="1400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E8F1F6D7-159D-4E7D-814E-17A100D81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4114998"/>
            <a:ext cx="900784" cy="1307604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3A328265-9E2D-4D7E-9CB6-C10ACB2CED82}"/>
              </a:ext>
            </a:extLst>
          </p:cNvPr>
          <p:cNvSpPr/>
          <p:nvPr/>
        </p:nvSpPr>
        <p:spPr>
          <a:xfrm>
            <a:off x="6305789" y="4295080"/>
            <a:ext cx="5224431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Year 1+</a:t>
            </a:r>
            <a:endParaRPr lang="en-US" sz="17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C5C6221E-94BC-4DD6-B886-56A587727CE0}"/>
              </a:ext>
            </a:extLst>
          </p:cNvPr>
          <p:cNvSpPr/>
          <p:nvPr/>
        </p:nvSpPr>
        <p:spPr>
          <a:xfrm>
            <a:off x="6305789" y="4679553"/>
            <a:ext cx="522443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who survive year one are substantially more likely to stay long-term.</a:t>
            </a:r>
            <a:endParaRPr lang="en-US" sz="14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376D8DC-9D27-43AC-A89E-486698FD84E2}"/>
              </a:ext>
            </a:extLst>
          </p:cNvPr>
          <p:cNvSpPr/>
          <p:nvPr/>
        </p:nvSpPr>
        <p:spPr>
          <a:xfrm>
            <a:off x="5233360" y="5615781"/>
            <a:ext cx="6296860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onboarding and engagement are make-or-break. The first 90 days determine whether a customer becomes a long-term asset or a churn statistic.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02084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152CB0B-AE93-4ECE-AD56-1B58E53CA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0F8505-26EA-475D-863C-CD17719BB9D1}"/>
              </a:ext>
            </a:extLst>
          </p:cNvPr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Four Actions to Cut Churn Now</a:t>
            </a:r>
            <a:endParaRPr lang="en-US" sz="3100" dirty="0"/>
          </a:p>
        </p:txBody>
      </p:sp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2393021A-D2A7-405F-B8CF-19A14817C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C1F40710-0467-4898-A6EB-68B829B0CEF1}"/>
              </a:ext>
            </a:extLst>
          </p:cNvPr>
          <p:cNvSpPr/>
          <p:nvPr/>
        </p:nvSpPr>
        <p:spPr>
          <a:xfrm>
            <a:off x="5448561" y="1692077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31A9E73-11CD-4CBD-884D-6DA54F6D1333}"/>
              </a:ext>
            </a:extLst>
          </p:cNvPr>
          <p:cNvSpPr/>
          <p:nvPr/>
        </p:nvSpPr>
        <p:spPr>
          <a:xfrm>
            <a:off x="6024809" y="1441549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Lock In Contracts</a:t>
            </a:r>
            <a:endParaRPr lang="en-US" sz="15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C919D52-A8CF-4452-A0ED-275C1EA645F7}"/>
              </a:ext>
            </a:extLst>
          </p:cNvPr>
          <p:cNvSpPr/>
          <p:nvPr/>
        </p:nvSpPr>
        <p:spPr>
          <a:xfrm>
            <a:off x="6024809" y="1771352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Incentivize month-to-month customers to commit to one-year contracts. Even modest discounts pay for themselves at current churn rates.</a:t>
            </a:r>
            <a:endParaRPr lang="en-US" sz="125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7C511F3F-BF0E-4F7C-AD87-86B5DF8AA9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06CAE435-3B34-4C0C-9D8E-845B4D43647B}"/>
              </a:ext>
            </a:extLst>
          </p:cNvPr>
          <p:cNvSpPr/>
          <p:nvPr/>
        </p:nvSpPr>
        <p:spPr>
          <a:xfrm>
            <a:off x="5448561" y="2983706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BF943C3-E751-48AB-8590-7BCD6708969F}"/>
              </a:ext>
            </a:extLst>
          </p:cNvPr>
          <p:cNvSpPr/>
          <p:nvPr/>
        </p:nvSpPr>
        <p:spPr>
          <a:xfrm>
            <a:off x="6024809" y="2733179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Push Autopay Adoption</a:t>
            </a:r>
            <a:endParaRPr lang="en-US" sz="15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7EAA1AB-264D-4B28-A480-0A299EF51430}"/>
              </a:ext>
            </a:extLst>
          </p:cNvPr>
          <p:cNvSpPr/>
          <p:nvPr/>
        </p:nvSpPr>
        <p:spPr>
          <a:xfrm>
            <a:off x="6024809" y="3062982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 a small discount to customers who switch to automatic payment. Lower friction, lower churn.</a:t>
            </a:r>
            <a:endParaRPr lang="en-US" sz="12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97DE9BD3-E4FD-4BD9-BD41-50AABC482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3BACFD5B-5D2F-458E-899A-12AA5FA0946A}"/>
              </a:ext>
            </a:extLst>
          </p:cNvPr>
          <p:cNvSpPr/>
          <p:nvPr/>
        </p:nvSpPr>
        <p:spPr>
          <a:xfrm>
            <a:off x="5448561" y="4275336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6E18CC4-CF62-4C45-9AAB-239FD0B1E9A2}"/>
              </a:ext>
            </a:extLst>
          </p:cNvPr>
          <p:cNvSpPr/>
          <p:nvPr/>
        </p:nvSpPr>
        <p:spPr>
          <a:xfrm>
            <a:off x="6024809" y="4024809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90-Day Onboarding Program</a:t>
            </a:r>
            <a:endParaRPr lang="en-US" sz="15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95B0BC5-B3E4-4F72-8D44-CCA638579116}"/>
              </a:ext>
            </a:extLst>
          </p:cNvPr>
          <p:cNvSpPr/>
          <p:nvPr/>
        </p:nvSpPr>
        <p:spPr>
          <a:xfrm>
            <a:off x="6024809" y="4354612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 a proactive, structured onboarding sequence for all new customers during their highest-risk window.</a:t>
            </a:r>
            <a:endParaRPr lang="en-US" sz="1250" dirty="0"/>
          </a:p>
        </p:txBody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2D8C0D0E-18E7-4F17-A9DC-E1DAC438B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18DC5624-9711-4855-8723-D8ABF029AEF0}"/>
              </a:ext>
            </a:extLst>
          </p:cNvPr>
          <p:cNvSpPr/>
          <p:nvPr/>
        </p:nvSpPr>
        <p:spPr>
          <a:xfrm>
            <a:off x="5448561" y="5566966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5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B083F563-F1A9-4F05-857A-45111FD71379}"/>
              </a:ext>
            </a:extLst>
          </p:cNvPr>
          <p:cNvSpPr/>
          <p:nvPr/>
        </p:nvSpPr>
        <p:spPr>
          <a:xfrm>
            <a:off x="6024809" y="5316438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Fiber Optic Audit</a:t>
            </a:r>
            <a:endParaRPr lang="en-US" sz="155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10CEB9CB-529F-4C93-9AE9-44876F50F9AB}"/>
              </a:ext>
            </a:extLst>
          </p:cNvPr>
          <p:cNvSpPr/>
          <p:nvPr/>
        </p:nvSpPr>
        <p:spPr>
          <a:xfrm>
            <a:off x="6024809" y="5646241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Investigate pricing, service quality, and support experience specific to Fiber optic customers.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695240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E6BE4D2-D295-4B2C-910B-1184575AD72E}"/>
              </a:ext>
            </a:extLst>
          </p:cNvPr>
          <p:cNvSpPr/>
          <p:nvPr/>
        </p:nvSpPr>
        <p:spPr>
          <a:xfrm>
            <a:off x="661475" y="12135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Next Steps</a:t>
            </a:r>
            <a:endParaRPr lang="en-US" sz="3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38D30F4-81D1-458D-9026-3ED15B6728E5}"/>
              </a:ext>
            </a:extLst>
          </p:cNvPr>
          <p:cNvSpPr/>
          <p:nvPr/>
        </p:nvSpPr>
        <p:spPr>
          <a:xfrm>
            <a:off x="661475" y="218221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Here's what the team should move on this week:</a:t>
            </a:r>
            <a:endParaRPr lang="en-US" sz="14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92CA254-A273-4C9C-B4DC-26D96B07D49D}"/>
              </a:ext>
            </a:extLst>
          </p:cNvPr>
          <p:cNvSpPr/>
          <p:nvPr/>
        </p:nvSpPr>
        <p:spPr>
          <a:xfrm>
            <a:off x="661475" y="269726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86477D3-5E20-44C0-A5AA-E6FDAEBBA160}"/>
              </a:ext>
            </a:extLst>
          </p:cNvPr>
          <p:cNvSpPr/>
          <p:nvPr/>
        </p:nvSpPr>
        <p:spPr>
          <a:xfrm>
            <a:off x="732365" y="273268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AC18E9B-2670-4B58-B33C-24774D04F3DC}"/>
              </a:ext>
            </a:extLst>
          </p:cNvPr>
          <p:cNvSpPr/>
          <p:nvPr/>
        </p:nvSpPr>
        <p:spPr>
          <a:xfrm>
            <a:off x="1275723" y="2762151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Contract Incentive Pilot</a:t>
            </a:r>
            <a:endParaRPr lang="en-US" sz="1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14AEA8-C274-4A56-8549-107694265E2A}"/>
              </a:ext>
            </a:extLst>
          </p:cNvPr>
          <p:cNvSpPr/>
          <p:nvPr/>
        </p:nvSpPr>
        <p:spPr>
          <a:xfrm>
            <a:off x="1275723" y="3170833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month-to-month segment. Design and launch a targeted offer to convert them to annual contracts.</a:t>
            </a:r>
            <a:endParaRPr lang="en-US" sz="14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60623EA-7942-4409-B120-47881065A5D9}"/>
              </a:ext>
            </a:extLst>
          </p:cNvPr>
          <p:cNvSpPr/>
          <p:nvPr/>
        </p:nvSpPr>
        <p:spPr>
          <a:xfrm>
            <a:off x="4363135" y="269726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D08B60F-3C9F-4710-8C4D-CF4EAE9BAF23}"/>
              </a:ext>
            </a:extLst>
          </p:cNvPr>
          <p:cNvSpPr/>
          <p:nvPr/>
        </p:nvSpPr>
        <p:spPr>
          <a:xfrm>
            <a:off x="4434025" y="273268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8A45423-F983-486B-8880-7998B75B3524}"/>
              </a:ext>
            </a:extLst>
          </p:cNvPr>
          <p:cNvSpPr/>
          <p:nvPr/>
        </p:nvSpPr>
        <p:spPr>
          <a:xfrm>
            <a:off x="4977383" y="2762151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90-Day Onboarding Playbook</a:t>
            </a:r>
            <a:endParaRPr lang="en-US" sz="18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F8A008A-BB32-4FC4-BE97-9C2BA5E38030}"/>
              </a:ext>
            </a:extLst>
          </p:cNvPr>
          <p:cNvSpPr/>
          <p:nvPr/>
        </p:nvSpPr>
        <p:spPr>
          <a:xfrm>
            <a:off x="4977383" y="3466108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the touchpoint sequence — emails, check-in calls, usage milestones — for all new customer onboarding.</a:t>
            </a:r>
            <a:endParaRPr lang="en-US" sz="14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A3311B-5850-434A-8081-C1B2605338E0}"/>
              </a:ext>
            </a:extLst>
          </p:cNvPr>
          <p:cNvSpPr/>
          <p:nvPr/>
        </p:nvSpPr>
        <p:spPr>
          <a:xfrm>
            <a:off x="8064794" y="2697262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DE09ECC-D238-4BD5-B5B6-D4EFAD19C935}"/>
              </a:ext>
            </a:extLst>
          </p:cNvPr>
          <p:cNvSpPr/>
          <p:nvPr/>
        </p:nvSpPr>
        <p:spPr>
          <a:xfrm>
            <a:off x="8135684" y="2732683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68F5472-4D67-4B06-92BD-490C1628F481}"/>
              </a:ext>
            </a:extLst>
          </p:cNvPr>
          <p:cNvSpPr/>
          <p:nvPr/>
        </p:nvSpPr>
        <p:spPr>
          <a:xfrm>
            <a:off x="8679042" y="2762151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Fiber Optic Deep-Dive</a:t>
            </a:r>
            <a:endParaRPr lang="en-US" sz="1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4035018-465E-4C53-8E57-611FA75E7A26}"/>
              </a:ext>
            </a:extLst>
          </p:cNvPr>
          <p:cNvSpPr/>
          <p:nvPr/>
        </p:nvSpPr>
        <p:spPr>
          <a:xfrm>
            <a:off x="8679042" y="3170833"/>
            <a:ext cx="2851178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Schedule a cross-functional review with product and support teams to diagnose and address the Fiber churn problem.</a:t>
            </a:r>
            <a:endParaRPr lang="en-US" sz="14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D31F345-8BFB-45E8-AFC5-6269841D06C3}"/>
              </a:ext>
            </a:extLst>
          </p:cNvPr>
          <p:cNvSpPr/>
          <p:nvPr/>
        </p:nvSpPr>
        <p:spPr>
          <a:xfrm>
            <a:off x="661475" y="4888409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96A15420-2884-44ED-9C79-37DAF9392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5156101"/>
            <a:ext cx="236234" cy="189012"/>
          </a:xfrm>
          <a:prstGeom prst="rect">
            <a:avLst/>
          </a:prstGeom>
        </p:spPr>
      </p:pic>
      <p:sp>
        <p:nvSpPr>
          <p:cNvPr id="18" name="Text 15">
            <a:extLst>
              <a:ext uri="{FF2B5EF4-FFF2-40B4-BE49-F238E27FC236}">
                <a16:creationId xmlns:a16="http://schemas.microsoft.com/office/drawing/2014/main" id="{2CA2F044-4FAF-49DB-A4B8-4B461E910864}"/>
              </a:ext>
            </a:extLst>
          </p:cNvPr>
          <p:cNvSpPr/>
          <p:nvPr/>
        </p:nvSpPr>
        <p:spPr>
          <a:xfrm>
            <a:off x="1275723" y="5124648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three workstreams address the highest-impact churn drivers identified in the analysis. Start here.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045466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447</Words>
  <Application>Microsoft Office PowerPoint</Application>
  <PresentationFormat>Widescreen</PresentationFormat>
  <Paragraphs>54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Roboto Bold</vt:lpstr>
      <vt:lpstr>Roboto</vt:lpstr>
      <vt:lpstr>Arial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Puja Patil</cp:lastModifiedBy>
  <cp:revision>3</cp:revision>
  <dcterms:created xsi:type="dcterms:W3CDTF">2026-09-21T17:28:15Z</dcterms:created>
  <dcterms:modified xsi:type="dcterms:W3CDTF">2026-09-21T17:31:59Z</dcterms:modified>
</cp:coreProperties>
</file>